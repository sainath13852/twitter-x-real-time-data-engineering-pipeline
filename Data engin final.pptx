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81" r:id="rId7"/>
    <p:sldId id="273" r:id="rId8"/>
    <p:sldId id="275" r:id="rId9"/>
    <p:sldId id="276" r:id="rId10"/>
    <p:sldId id="277" r:id="rId11"/>
    <p:sldId id="279" r:id="rId12"/>
    <p:sldId id="278" r:id="rId13"/>
    <p:sldId id="283" r:id="rId14"/>
    <p:sldId id="284" r:id="rId15"/>
    <p:sldId id="286" r:id="rId16"/>
    <p:sldId id="285" r:id="rId17"/>
    <p:sldId id="280" r:id="rId18"/>
    <p:sldId id="282" r:id="rId19"/>
    <p:sldId id="27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0A3D08-045A-4220-97D8-B663711D3C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790" autoAdjust="0"/>
  </p:normalViewPr>
  <p:slideViewPr>
    <p:cSldViewPr snapToGrid="0">
      <p:cViewPr>
        <p:scale>
          <a:sx n="119" d="100"/>
          <a:sy n="119" d="100"/>
        </p:scale>
        <p:origin x="168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4" name="Google Shape;22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6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name="adj" fmla="val 153193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34" name="Google Shape;3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31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ubTitle" idx="1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1" name="Google Shape;41;p3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2" name="Google Shape;42;p3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0" y="3961115"/>
            <a:ext cx="2910144" cy="1182340"/>
            <a:chOff x="6917201" y="0"/>
            <a:chExt cx="2227777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60" name="Google Shape;60;p5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accent3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name="adj" fmla="val 153193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94" name="Google Shape;94;p8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9" name="Google Shape;99;p9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ubTitle" idx="1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2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2" name="Google Shape;102;p9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accen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sy="101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1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name="adj" fmla="val 15802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19" name="Google Shape;119;p11"/>
          <p:cNvSpPr txBox="1">
            <a:spLocks noGrp="1"/>
          </p:cNvSpPr>
          <p:nvPr>
            <p:ph type="title" hasCustomPrompt="1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>
            <a:spLocks noGrp="1"/>
          </p:cNvSpPr>
          <p:nvPr>
            <p:ph type="body" idx="1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 panose="020B0604020202020204"/>
              <a:buChar char="●"/>
              <a:defRPr sz="13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xfrm>
            <a:off x="909703" y="630212"/>
            <a:ext cx="7541655" cy="191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b="1" dirty="0">
                <a:solidFill>
                  <a:srgbClr val="C29F59"/>
                </a:solidFill>
              </a:rPr>
              <a:t>    university of Europe for applied sciences</a:t>
            </a:r>
            <a:br>
              <a:rPr lang="en-GB" sz="2400" b="1" dirty="0">
                <a:solidFill>
                  <a:srgbClr val="C29F59"/>
                </a:solidFill>
              </a:rPr>
            </a:br>
            <a:r>
              <a:rPr lang="en-GB" sz="2400" dirty="0">
                <a:solidFill>
                  <a:schemeClr val="bg2">
                    <a:lumMod val="50000"/>
                  </a:schemeClr>
                </a:solidFill>
              </a:rPr>
              <a:t>Department of </a:t>
            </a:r>
            <a:r>
              <a:rPr lang="en-IN" sz="2400" dirty="0">
                <a:solidFill>
                  <a:schemeClr val="bg2"/>
                </a:solidFill>
              </a:rPr>
              <a:t>Data Science </a:t>
            </a:r>
            <a:endParaRPr lang="en-US" sz="2400" dirty="0">
              <a:solidFill>
                <a:schemeClr val="bg2"/>
              </a:solidFill>
            </a:endParaRPr>
          </a:p>
          <a:p>
            <a:pPr lvl="0"/>
            <a:r>
              <a:rPr lang="en-US" altLang="en-GB" sz="1600" b="1" dirty="0">
                <a:solidFill>
                  <a:srgbClr val="000000"/>
                </a:solidFill>
              </a:rPr>
              <a:t>Presentation On</a:t>
            </a:r>
            <a:r>
              <a:rPr lang="en-US" dirty="0"/>
              <a:t>: </a:t>
            </a:r>
            <a:r>
              <a:rPr lang="en-US" b="1" dirty="0">
                <a:solidFill>
                  <a:schemeClr val="bg2"/>
                </a:solidFill>
              </a:rPr>
              <a:t>progress report</a:t>
            </a:r>
            <a:br>
              <a:rPr lang="en-US" b="1" dirty="0">
                <a:solidFill>
                  <a:schemeClr val="bg2"/>
                </a:solidFill>
              </a:rPr>
            </a:br>
            <a:br>
              <a:rPr lang="en-US" dirty="0"/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chemeClr val="bg2"/>
                </a:solidFill>
              </a:rPr>
              <a:t>Twitter (X) Real-Time Data Engineering Pipeline</a:t>
            </a:r>
            <a:endParaRPr lang="en-US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909703" y="2760286"/>
            <a:ext cx="32156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PRESENTED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buSzPts val="1400"/>
            </a:pP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</a:t>
            </a:r>
            <a:endParaRPr lang="en-GB" dirty="0"/>
          </a:p>
        </p:txBody>
      </p:sp>
      <p:sp>
        <p:nvSpPr>
          <p:cNvPr id="134" name="Google Shape;134;p13"/>
          <p:cNvSpPr txBox="1"/>
          <p:nvPr/>
        </p:nvSpPr>
        <p:spPr>
          <a:xfrm>
            <a:off x="5897388" y="4021832"/>
            <a:ext cx="255397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GUIDED BY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</a:t>
            </a:r>
          </a:p>
          <a:p>
            <a:pPr lvl="0" algn="ctr">
              <a:buSzPts val="1400"/>
            </a:pPr>
            <a:r>
              <a:rPr lang="en-IN" dirty="0"/>
              <a:t>Prof. Farhan Khan</a:t>
            </a:r>
            <a:r>
              <a:rPr lang="en-GB" sz="1400" b="0" i="0" u="none" strike="noStrike" cap="none" dirty="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681B7-F038-4736-AFB6-D33AA560EF56}"/>
              </a:ext>
            </a:extLst>
          </p:cNvPr>
          <p:cNvSpPr txBox="1"/>
          <p:nvPr/>
        </p:nvSpPr>
        <p:spPr>
          <a:xfrm>
            <a:off x="1665514" y="3044763"/>
            <a:ext cx="3283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Anish Dadaji Khobragade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Bhuvan Chandra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E9DDE-D679-37C5-C773-36DE5BB08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8" y="56629"/>
            <a:ext cx="1675457" cy="7174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24811"/>
            <a:ext cx="7910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Contents:</a:t>
            </a:r>
            <a:endParaRPr lang="en-IN" sz="2000" dirty="0">
              <a:solidFill>
                <a:schemeClr val="bg1"/>
              </a:solidFill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0D911D9-D034-3A3B-30D8-75A096C02D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142447"/>
              </p:ext>
            </p:extLst>
          </p:nvPr>
        </p:nvGraphicFramePr>
        <p:xfrm>
          <a:off x="1127161" y="1343526"/>
          <a:ext cx="6104020" cy="3130310"/>
        </p:xfrm>
        <a:graphic>
          <a:graphicData uri="http://schemas.openxmlformats.org/drawingml/2006/table">
            <a:tbl>
              <a:tblPr firstRow="1" bandRow="1">
                <a:tableStyleId>{7E0A3D08-045A-4220-97D8-B663711D3C60}</a:tableStyleId>
              </a:tblPr>
              <a:tblGrid>
                <a:gridCol w="1304039">
                  <a:extLst>
                    <a:ext uri="{9D8B030D-6E8A-4147-A177-3AD203B41FA5}">
                      <a16:colId xmlns:a16="http://schemas.microsoft.com/office/drawing/2014/main" val="2008545658"/>
                    </a:ext>
                  </a:extLst>
                </a:gridCol>
                <a:gridCol w="4799981">
                  <a:extLst>
                    <a:ext uri="{9D8B030D-6E8A-4147-A177-3AD203B41FA5}">
                      <a16:colId xmlns:a16="http://schemas.microsoft.com/office/drawing/2014/main" val="2624603724"/>
                    </a:ext>
                  </a:extLst>
                </a:gridCol>
              </a:tblGrid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GB" dirty="0"/>
                        <a:t>Problem Definition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631680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Introduction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771357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GB" dirty="0"/>
                        <a:t>Aim &amp; Objectives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266166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dirty="0"/>
                        <a:t>Methodology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5345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Technology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4209135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Kafka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972977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069233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Conclusion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411436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871958"/>
                  </a:ext>
                </a:extLst>
              </a:tr>
              <a:tr h="313031"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119238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609600" y="603106"/>
            <a:ext cx="7505700" cy="651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10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</a:pPr>
            <a:r>
              <a:rPr lang="en-GB" dirty="0"/>
              <a:t>Problem Definition</a:t>
            </a:r>
            <a:endParaRPr dirty="0"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609600" y="1254797"/>
            <a:ext cx="7924800" cy="3389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endParaRPr lang="en-IN" sz="1600" b="1" dirty="0"/>
          </a:p>
          <a:p>
            <a:r>
              <a:rPr lang="en-IN" sz="1600" dirty="0"/>
              <a:t>Twitter generates millions of tweets every day.</a:t>
            </a:r>
          </a:p>
          <a:p>
            <a:pPr marL="146050" indent="0">
              <a:buNone/>
            </a:pPr>
            <a:r>
              <a:rPr lang="en-IN" sz="1600" dirty="0"/>
              <a:t> </a:t>
            </a:r>
          </a:p>
          <a:p>
            <a:r>
              <a:rPr lang="en-IN" sz="1600" dirty="0"/>
              <a:t>Processing large volumes of streaming data manually is difficult.</a:t>
            </a:r>
          </a:p>
          <a:p>
            <a:pPr marL="146050" indent="0">
              <a:buNone/>
            </a:pPr>
            <a:r>
              <a:rPr lang="en-IN" sz="1600" dirty="0"/>
              <a:t> </a:t>
            </a:r>
          </a:p>
          <a:p>
            <a:r>
              <a:rPr lang="en-IN" sz="1600" dirty="0"/>
              <a:t>Businesses need real-time sentiment analysis for better decision-making.</a:t>
            </a:r>
          </a:p>
          <a:p>
            <a:pPr marL="146050" indent="0">
              <a:buNone/>
            </a:pP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600" dirty="0"/>
              <a:t>Building an end-to-end data engineering pipeline requires integrating multiple technologies such as Kafka, Python, MySQL, and Power BI.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506730" y="514238"/>
            <a:ext cx="760476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>
                <a:solidFill>
                  <a:schemeClr val="bg1"/>
                </a:solidFill>
              </a:rPr>
              <a:t>Introduction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506730" y="1060338"/>
            <a:ext cx="8166735" cy="361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spcBef>
                <a:spcPts val="1600"/>
              </a:spcBef>
              <a:spcAft>
                <a:spcPts val="1600"/>
              </a:spcAft>
              <a:buFont typeface="Wingdings" panose="05000000000000000000" pitchFamily="2" charset="2"/>
              <a:buChar char="Ø"/>
            </a:pPr>
            <a:r>
              <a:rPr lang="en-IN" sz="1800" dirty="0"/>
              <a:t>Data engineering plays a vital role in collecting, processing, and managing large volumes of real-time data generated from various sources. In this project, an end-to-end Twitter sentiment data pipeline was developed using Python, Apache Kafka, MySQL, and Power BI. The pipeline simulates real-time tweet streaming, processes and stores the data efficiently, and presents interactive dashboards to support data analysis and business decision-making.</a:t>
            </a:r>
            <a:endParaRPr sz="1800" dirty="0">
              <a:solidFill>
                <a:srgbClr val="000000"/>
              </a:solidFill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>
            <a:spLocks noGrp="1"/>
          </p:cNvSpPr>
          <p:nvPr>
            <p:ph type="title"/>
          </p:nvPr>
        </p:nvSpPr>
        <p:spPr>
          <a:xfrm>
            <a:off x="583623" y="489400"/>
            <a:ext cx="75057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dirty="0"/>
              <a:t>Aim &amp; Objectives:</a:t>
            </a:r>
            <a:br>
              <a:rPr lang="en-GB" dirty="0"/>
            </a:br>
            <a:endParaRPr dirty="0"/>
          </a:p>
        </p:txBody>
      </p:sp>
      <p:sp>
        <p:nvSpPr>
          <p:cNvPr id="166" name="Google Shape;166;p18"/>
          <p:cNvSpPr txBox="1">
            <a:spLocks noGrp="1"/>
          </p:cNvSpPr>
          <p:nvPr>
            <p:ph type="body" idx="1"/>
          </p:nvPr>
        </p:nvSpPr>
        <p:spPr>
          <a:xfrm>
            <a:off x="489284" y="1147010"/>
            <a:ext cx="7600039" cy="284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46050" indent="0">
              <a:buNone/>
            </a:pPr>
            <a:r>
              <a:rPr lang="en-US" sz="1800" b="1" dirty="0"/>
              <a:t>Aim</a:t>
            </a:r>
          </a:p>
          <a:p>
            <a:r>
              <a:rPr lang="en-US" sz="1800" dirty="0"/>
              <a:t>To develop a real-time Twitter (X) data streaming pipeline using Apache Kafka, Python, and Power BI for processing and visualizing tweet sentiment data.</a:t>
            </a:r>
          </a:p>
          <a:p>
            <a:endParaRPr lang="en-US" sz="1800" b="1" dirty="0"/>
          </a:p>
          <a:p>
            <a:pPr marL="146050" indent="0">
              <a:buNone/>
            </a:pPr>
            <a:r>
              <a:rPr lang="en-US" sz="1800" b="1" dirty="0"/>
              <a:t>Objectives</a:t>
            </a:r>
          </a:p>
          <a:p>
            <a:r>
              <a:rPr lang="en-US" sz="1800" dirty="0"/>
              <a:t>To implement real-time data streaming using Apache Kafka. </a:t>
            </a:r>
          </a:p>
          <a:p>
            <a:r>
              <a:rPr lang="en-US" sz="1800" dirty="0"/>
              <a:t>To develop Producer and Consumer applications using Python. </a:t>
            </a:r>
          </a:p>
          <a:p>
            <a:r>
              <a:rPr lang="en-US" sz="1800" dirty="0"/>
              <a:t>To process tweet data using Kafka topics. </a:t>
            </a:r>
          </a:p>
          <a:p>
            <a:r>
              <a:rPr lang="en-US" sz="1800" dirty="0"/>
              <a:t>To visualize streaming analytics using Power BI.</a:t>
            </a:r>
          </a:p>
          <a:p>
            <a:pPr marL="0" indent="0">
              <a:lnSpc>
                <a:spcPct val="200000"/>
              </a:lnSpc>
              <a:buNone/>
            </a:pPr>
            <a:endParaRPr 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6B5899-53B1-8E5F-1386-2281AAE2C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35" y="1276340"/>
            <a:ext cx="1247784" cy="2743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29279F-2788-C84F-A611-030D130BE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619" y="1200139"/>
            <a:ext cx="1190634" cy="28956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8FC068-4B03-1D17-F1C7-74D42AEF8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3253" y="1276339"/>
            <a:ext cx="1162058" cy="28194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344BB-AE21-AA17-D546-F07916243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5311" y="1247764"/>
            <a:ext cx="1133483" cy="28479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0342752-BB14-D096-D2E3-006B1C4CAF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794" y="1276339"/>
            <a:ext cx="1162058" cy="27527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572D34-08DB-3488-6D63-A815101EB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2277" y="1214426"/>
            <a:ext cx="1104908" cy="28670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9A533A-4ACF-F6CF-6B6D-EF865B4F5E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7185" y="1166048"/>
            <a:ext cx="1171584" cy="281942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A078059-3C28-3E31-04C1-A5E630F2E9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3330" y="333370"/>
            <a:ext cx="3828817" cy="8524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8F96691-715F-6CC0-6AF0-E55406722C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62619" y="3943361"/>
            <a:ext cx="4930178" cy="95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604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150" y="528608"/>
            <a:ext cx="7505700" cy="605248"/>
          </a:xfrm>
        </p:spPr>
        <p:txBody>
          <a:bodyPr/>
          <a:lstStyle/>
          <a:p>
            <a:r>
              <a:rPr lang="en-US" dirty="0"/>
              <a:t>Technology 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9969" y="1655225"/>
            <a:ext cx="7442534" cy="2435512"/>
          </a:xfrm>
        </p:spPr>
        <p:txBody>
          <a:bodyPr/>
          <a:lstStyle/>
          <a:p>
            <a:r>
              <a:rPr lang="en-IN" sz="1800" b="1" dirty="0"/>
              <a:t>Python</a:t>
            </a:r>
            <a:r>
              <a:rPr lang="en-IN" sz="1800" dirty="0"/>
              <a:t> – Used for Kafka Producer and Consumer development</a:t>
            </a:r>
          </a:p>
          <a:p>
            <a:r>
              <a:rPr lang="en-IN" sz="1800" b="1" dirty="0"/>
              <a:t>Apache Kafka</a:t>
            </a:r>
            <a:r>
              <a:rPr lang="en-IN" sz="1800" dirty="0"/>
              <a:t> – Used for real-time data streaming</a:t>
            </a:r>
          </a:p>
          <a:p>
            <a:r>
              <a:rPr lang="en-IN" sz="1800" b="1" dirty="0"/>
              <a:t>Zookeeper</a:t>
            </a:r>
            <a:r>
              <a:rPr lang="en-IN" sz="1800" dirty="0"/>
              <a:t> – Used for Kafka coordination and management </a:t>
            </a:r>
          </a:p>
          <a:p>
            <a:r>
              <a:rPr lang="en-IN" sz="1800" b="1" dirty="0"/>
              <a:t>Java 17</a:t>
            </a:r>
            <a:r>
              <a:rPr lang="en-IN" sz="1800" dirty="0"/>
              <a:t> – Runtime environment required for Kafka services </a:t>
            </a:r>
          </a:p>
          <a:p>
            <a:r>
              <a:rPr lang="en-IN" sz="1800" b="1" dirty="0"/>
              <a:t>JSON</a:t>
            </a:r>
            <a:r>
              <a:rPr lang="en-IN" sz="1800" dirty="0"/>
              <a:t> – Used as the streaming data format</a:t>
            </a:r>
          </a:p>
          <a:p>
            <a:r>
              <a:rPr lang="en-IN" sz="1800" b="1" dirty="0"/>
              <a:t>Power BI</a:t>
            </a:r>
            <a:r>
              <a:rPr lang="en-IN" sz="1800" dirty="0"/>
              <a:t> – Used for analytics and dashboard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D255-DE53-1E88-E64A-D2AC45391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9810" y="108829"/>
            <a:ext cx="4542924" cy="602200"/>
          </a:xfrm>
        </p:spPr>
        <p:txBody>
          <a:bodyPr/>
          <a:lstStyle/>
          <a:p>
            <a:r>
              <a:rPr lang="en-IN" dirty="0"/>
              <a:t>Kafka Implementation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40982-03DE-FBC9-CF98-7CBEBB989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810" y="768020"/>
            <a:ext cx="7860631" cy="406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978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BEB8-355E-2315-DBE0-3DD6DA716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83" y="129175"/>
            <a:ext cx="7505700" cy="954600"/>
          </a:xfrm>
        </p:spPr>
        <p:txBody>
          <a:bodyPr/>
          <a:lstStyle/>
          <a:p>
            <a:r>
              <a:rPr lang="en-IN" dirty="0"/>
              <a:t>Producer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24E021-3E7A-E53D-E9E1-8E22A6454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94" y="857339"/>
            <a:ext cx="7082589" cy="365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93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5C1B2-DEA0-6660-782A-7A1D0777A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D8A4-2904-44DB-97E5-9D971F04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83" y="129175"/>
            <a:ext cx="7505700" cy="954600"/>
          </a:xfrm>
        </p:spPr>
        <p:txBody>
          <a:bodyPr/>
          <a:lstStyle/>
          <a:p>
            <a:r>
              <a:rPr lang="en-IN" dirty="0"/>
              <a:t>Consumer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894BC-FA02-7926-197E-9A008D951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85" y="800033"/>
            <a:ext cx="7932183" cy="407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30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8B5CD-78BD-EA53-40BB-95DFB267F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817C-B1E2-1B53-9E80-DB70D5E7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83" y="129175"/>
            <a:ext cx="7257685" cy="516520"/>
          </a:xfrm>
        </p:spPr>
        <p:txBody>
          <a:bodyPr/>
          <a:lstStyle/>
          <a:p>
            <a:r>
              <a:rPr lang="en-IN" dirty="0"/>
              <a:t>Data Cleaning and Loading into MySQL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20B14E-67DA-D780-8579-C8427B746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15897"/>
            <a:ext cx="6817554" cy="401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464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E0486-11AD-EA33-9142-2377963AD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83A9D-D9E0-3609-B030-7FEE059CF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483" y="129175"/>
            <a:ext cx="7505700" cy="954600"/>
          </a:xfrm>
        </p:spPr>
        <p:txBody>
          <a:bodyPr/>
          <a:lstStyle/>
          <a:p>
            <a:r>
              <a:rPr lang="en-IN" dirty="0"/>
              <a:t>Processed Data Stored in MySQL</a:t>
            </a:r>
            <a:r>
              <a:rPr lang="en-US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B12B0-9F97-75FE-7C7D-40374D0F1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85" y="784058"/>
            <a:ext cx="6384758" cy="39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34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8A62-CFFA-962E-A9E3-EEFDE2BB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71" y="227475"/>
            <a:ext cx="7505700" cy="9546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25604-8E7F-9DB1-2AA4-3688B16D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3911" y="906379"/>
            <a:ext cx="5703884" cy="3400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889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3A90-D4AE-C72E-9FD9-A3FEE0A3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D746F-6252-A58A-A129-CE43A982F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71" y="227475"/>
            <a:ext cx="7505700" cy="9546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9B97B8-B2E9-63FB-9CD8-D4E03103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48" y="966537"/>
            <a:ext cx="5718790" cy="346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181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7DDC7-B137-D25A-D7D9-F3220E591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B506-BBC3-FB2B-122E-AD046D59F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71" y="227475"/>
            <a:ext cx="7505700" cy="9546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69B326-B252-9506-B834-0048C3087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027" y="649705"/>
            <a:ext cx="5848099" cy="41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69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AD72-2E5C-6DD3-7863-6ED8C7E1A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751CE-34D3-E7F8-478F-88529B7FC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571" y="227475"/>
            <a:ext cx="7505700" cy="954600"/>
          </a:xfrm>
        </p:spPr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E11F14-3539-03FD-227B-D8994594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706" y="962526"/>
            <a:ext cx="4510771" cy="353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047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268EE-5253-DB1F-A7C3-933A387B0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6" y="171831"/>
            <a:ext cx="7505700" cy="954600"/>
          </a:xfrm>
        </p:spPr>
        <p:txBody>
          <a:bodyPr/>
          <a:lstStyle/>
          <a:p>
            <a:r>
              <a:rPr lang="en-IN" dirty="0"/>
              <a:t>Challenges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45B46-FC8F-8277-A2D1-CF5D9A3AD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8676" y="1126431"/>
            <a:ext cx="7505700" cy="2448000"/>
          </a:xfrm>
        </p:spPr>
        <p:txBody>
          <a:bodyPr/>
          <a:lstStyle/>
          <a:p>
            <a:r>
              <a:rPr lang="en-IN" sz="1800" dirty="0"/>
              <a:t>Team restructuring due to some members deferring to another intake.</a:t>
            </a:r>
          </a:p>
          <a:p>
            <a:r>
              <a:rPr lang="en-IN" sz="1800" dirty="0"/>
              <a:t>Twitter API access limitations. </a:t>
            </a:r>
          </a:p>
          <a:p>
            <a:r>
              <a:rPr lang="en-IN" sz="1800" dirty="0"/>
              <a:t>Kafka and </a:t>
            </a:r>
            <a:r>
              <a:rPr lang="en-IN" sz="1800" dirty="0" err="1"/>
              <a:t>ZooKeeper</a:t>
            </a:r>
            <a:r>
              <a:rPr lang="en-IN" sz="1800" dirty="0"/>
              <a:t> configuration.</a:t>
            </a:r>
          </a:p>
          <a:p>
            <a:r>
              <a:rPr lang="en-IN" sz="1800" dirty="0"/>
              <a:t>Duplicate data handling in MySQL. </a:t>
            </a:r>
          </a:p>
          <a:p>
            <a:r>
              <a:rPr lang="en-IN" sz="1800" dirty="0"/>
              <a:t>Integration of multiple technologies. </a:t>
            </a:r>
          </a:p>
          <a:p>
            <a:r>
              <a:rPr lang="en-IN" sz="1800" dirty="0"/>
              <a:t>Power BI connectivity and data refresh.</a:t>
            </a:r>
          </a:p>
        </p:txBody>
      </p:sp>
    </p:spTree>
    <p:extLst>
      <p:ext uri="{BB962C8B-B14F-4D97-AF65-F5344CB8AC3E}">
        <p14:creationId xmlns:p14="http://schemas.microsoft.com/office/powerpoint/2010/main" val="3319070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1F438-7FFD-B3B6-0E72-933F9C86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CABBB-7A2B-863F-A780-5F944D71E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6" y="171831"/>
            <a:ext cx="7505700" cy="954600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301DA-C790-3734-D6D6-D38717EFC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6171" y="1347750"/>
            <a:ext cx="7505700" cy="2448000"/>
          </a:xfrm>
        </p:spPr>
        <p:txBody>
          <a:bodyPr/>
          <a:lstStyle/>
          <a:p>
            <a:r>
              <a:rPr lang="en-IN" sz="1800" dirty="0"/>
              <a:t>Successfully developed an end-to-end data engineering pipeline.</a:t>
            </a:r>
          </a:p>
          <a:p>
            <a:r>
              <a:rPr lang="en-IN" sz="1800" dirty="0"/>
              <a:t>Kafka enabled simulated real-time data streaming.</a:t>
            </a:r>
          </a:p>
          <a:p>
            <a:r>
              <a:rPr lang="en-IN" sz="1800" dirty="0"/>
              <a:t>MySQL stored processed tweet data.</a:t>
            </a:r>
          </a:p>
          <a:p>
            <a:r>
              <a:rPr lang="en-IN" sz="1800" dirty="0"/>
              <a:t>Power BI provided interactive visualizations.</a:t>
            </a:r>
          </a:p>
          <a:p>
            <a:r>
              <a:rPr lang="en-IN" sz="1800" dirty="0"/>
              <a:t>The project demonstrates practical data ingestion, streaming, storage, and analytics.</a:t>
            </a:r>
          </a:p>
        </p:txBody>
      </p:sp>
    </p:spTree>
    <p:extLst>
      <p:ext uri="{BB962C8B-B14F-4D97-AF65-F5344CB8AC3E}">
        <p14:creationId xmlns:p14="http://schemas.microsoft.com/office/powerpoint/2010/main" val="2472957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14867" y="987819"/>
            <a:ext cx="66077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432</Words>
  <Application>Microsoft Office PowerPoint</Application>
  <PresentationFormat>On-screen Show (16:9)</PresentationFormat>
  <Paragraphs>75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Wingdings</vt:lpstr>
      <vt:lpstr>Shift</vt:lpstr>
      <vt:lpstr>    university of Europe for applied sciences Department of Data Science  Presentation On: progress report   Twitter (X) Real-Time Data Engineering Pipeline</vt:lpstr>
      <vt:lpstr>PowerPoint Presentation</vt:lpstr>
      <vt:lpstr>Problem Definition</vt:lpstr>
      <vt:lpstr>Introduction</vt:lpstr>
      <vt:lpstr>Aim &amp; Objectives: </vt:lpstr>
      <vt:lpstr>PowerPoint Presentation</vt:lpstr>
      <vt:lpstr>Technology :</vt:lpstr>
      <vt:lpstr>Kafka Implementation:</vt:lpstr>
      <vt:lpstr>Producer:</vt:lpstr>
      <vt:lpstr>Consumer:</vt:lpstr>
      <vt:lpstr>Data Cleaning and Loading into MySQL:</vt:lpstr>
      <vt:lpstr>Processed Data Stored in MySQL:</vt:lpstr>
      <vt:lpstr>Results</vt:lpstr>
      <vt:lpstr>Results</vt:lpstr>
      <vt:lpstr>Results</vt:lpstr>
      <vt:lpstr>Results</vt:lpstr>
      <vt:lpstr>Challenges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YESHWANTRAO CHAVAN COLLEGE OF    ENGINEERING COMPUTER TECHNOLOGY DEPARTMENT Title Selection Seminar  ON:   DERIVATIONAL MORPHOLOGICAL ANALYZER</dc:title>
  <dc:creator>Anup</dc:creator>
  <cp:lastModifiedBy>anish khobragade</cp:lastModifiedBy>
  <cp:revision>82</cp:revision>
  <dcterms:created xsi:type="dcterms:W3CDTF">2021-08-21T05:11:00Z</dcterms:created>
  <dcterms:modified xsi:type="dcterms:W3CDTF">2026-06-29T18:03:46Z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B26C36844B804404955E2FA1AD81A8A7</vt:lpwstr>
  </property>
  <property fmtid="{D5CDD505-2E9C-101B-9397-08002B2CF9AE}" pid="3" name="KSOProductBuildVer">
    <vt:lpwstr>1033-11.2.0.11074</vt:lpwstr>
  </property>
</Properties>
</file>