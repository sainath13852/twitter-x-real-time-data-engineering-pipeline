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6" r:id="rId7"/>
    <p:sldId id="273" r:id="rId8"/>
    <p:sldId id="275" r:id="rId9"/>
    <p:sldId id="276" r:id="rId10"/>
    <p:sldId id="274" r:id="rId11"/>
    <p:sldId id="271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0A3D08-045A-4220-97D8-B663711D3C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90" autoAdjust="0"/>
  </p:normalViewPr>
  <p:slideViewPr>
    <p:cSldViewPr snapToGrid="0">
      <p:cViewPr>
        <p:scale>
          <a:sx n="95" d="100"/>
          <a:sy n="95" d="100"/>
        </p:scale>
        <p:origin x="135" y="4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3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0" y="3961115"/>
            <a:ext cx="2910144" cy="1182340"/>
            <a:chOff x="6917201" y="0"/>
            <a:chExt cx="2227777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7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 panose="020B0604020202020204"/>
              <a:buChar char="●"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909703" y="630212"/>
            <a:ext cx="7541655" cy="191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b="1" dirty="0">
                <a:solidFill>
                  <a:srgbClr val="C29F59"/>
                </a:solidFill>
              </a:rPr>
              <a:t>    university of Europe for applied sciences</a:t>
            </a:r>
            <a:br>
              <a:rPr lang="en-GB" sz="2400" b="1" dirty="0">
                <a:solidFill>
                  <a:srgbClr val="C29F59"/>
                </a:solidFill>
              </a:rPr>
            </a:br>
            <a:r>
              <a:rPr lang="en-GB" sz="2400" dirty="0">
                <a:solidFill>
                  <a:schemeClr val="bg2">
                    <a:lumMod val="50000"/>
                  </a:schemeClr>
                </a:solidFill>
              </a:rPr>
              <a:t>Department of </a:t>
            </a:r>
            <a:r>
              <a:rPr lang="en-IN" sz="2400" dirty="0">
                <a:solidFill>
                  <a:schemeClr val="bg2"/>
                </a:solidFill>
              </a:rPr>
              <a:t>Data Science </a:t>
            </a:r>
            <a:endParaRPr lang="en-US" sz="2400" dirty="0">
              <a:solidFill>
                <a:schemeClr val="bg2"/>
              </a:solidFill>
            </a:endParaRPr>
          </a:p>
          <a:p>
            <a:pPr lvl="0"/>
            <a:r>
              <a:rPr lang="en-US" altLang="en-GB" sz="1600" b="1" dirty="0">
                <a:solidFill>
                  <a:srgbClr val="000000"/>
                </a:solidFill>
              </a:rPr>
              <a:t>Presentation On</a:t>
            </a:r>
            <a:r>
              <a:rPr lang="en-US" dirty="0"/>
              <a:t>: </a:t>
            </a:r>
            <a:r>
              <a:rPr lang="en-US" b="1" dirty="0">
                <a:solidFill>
                  <a:schemeClr val="bg2"/>
                </a:solidFill>
              </a:rPr>
              <a:t>progress report</a:t>
            </a:r>
            <a:br>
              <a:rPr lang="en-US" b="1" dirty="0">
                <a:solidFill>
                  <a:schemeClr val="bg2"/>
                </a:solidFill>
              </a:rPr>
            </a:br>
            <a:br>
              <a:rPr lang="en-US" dirty="0"/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Twitter (X) Real-Time Data Engineering Pipeline</a:t>
            </a:r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909703" y="2760286"/>
            <a:ext cx="32156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PRESENTED BY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 algn="ctr">
              <a:buSzPts val="1400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 dirty="0"/>
          </a:p>
        </p:txBody>
      </p:sp>
      <p:sp>
        <p:nvSpPr>
          <p:cNvPr id="134" name="Google Shape;134;p13"/>
          <p:cNvSpPr txBox="1"/>
          <p:nvPr/>
        </p:nvSpPr>
        <p:spPr>
          <a:xfrm>
            <a:off x="5897388" y="4021832"/>
            <a:ext cx="255397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GUIDED BY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</a:p>
          <a:p>
            <a:pPr lvl="0" algn="ctr">
              <a:buSzPts val="1400"/>
            </a:pPr>
            <a:r>
              <a:rPr lang="en-IN" dirty="0"/>
              <a:t>Prof. Farhan Khan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681B7-F038-4736-AFB6-D33AA560EF56}"/>
              </a:ext>
            </a:extLst>
          </p:cNvPr>
          <p:cNvSpPr txBox="1"/>
          <p:nvPr/>
        </p:nvSpPr>
        <p:spPr>
          <a:xfrm>
            <a:off x="1665514" y="3044763"/>
            <a:ext cx="3283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Anish Dadaji Khobragade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Bhuvan Chandra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Sainath Reddy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E9DDE-D679-37C5-C773-36DE5BB08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8" y="56629"/>
            <a:ext cx="1675457" cy="717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24811"/>
            <a:ext cx="7910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Contents:</a:t>
            </a:r>
            <a:endParaRPr lang="en-IN" sz="20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0D911D9-D034-3A3B-30D8-75A096C02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721318"/>
              </p:ext>
            </p:extLst>
          </p:nvPr>
        </p:nvGraphicFramePr>
        <p:xfrm>
          <a:off x="1111118" y="1403684"/>
          <a:ext cx="6104022" cy="1878186"/>
        </p:xfrm>
        <a:graphic>
          <a:graphicData uri="http://schemas.openxmlformats.org/drawingml/2006/table">
            <a:tbl>
              <a:tblPr firstRow="1" bandRow="1">
                <a:tableStyleId>{7E0A3D08-045A-4220-97D8-B663711D3C60}</a:tableStyleId>
              </a:tblPr>
              <a:tblGrid>
                <a:gridCol w="1304039">
                  <a:extLst>
                    <a:ext uri="{9D8B030D-6E8A-4147-A177-3AD203B41FA5}">
                      <a16:colId xmlns:a16="http://schemas.microsoft.com/office/drawing/2014/main" val="2008545658"/>
                    </a:ext>
                  </a:extLst>
                </a:gridCol>
                <a:gridCol w="4799983">
                  <a:extLst>
                    <a:ext uri="{9D8B030D-6E8A-4147-A177-3AD203B41FA5}">
                      <a16:colId xmlns:a16="http://schemas.microsoft.com/office/drawing/2014/main" val="2624603724"/>
                    </a:ext>
                  </a:extLst>
                </a:gridCol>
              </a:tblGrid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Introduction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31680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Aim &amp;Objective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771357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Flow of 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266166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Technologies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53455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209135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Data Preparation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9729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609600" y="603106"/>
            <a:ext cx="7505700" cy="65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GB" dirty="0"/>
              <a:t>Problem Definition</a:t>
            </a:r>
            <a:endParaRPr dirty="0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609600" y="1254797"/>
            <a:ext cx="7924800" cy="2813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Bef>
                <a:spcPts val="1600"/>
              </a:spcBef>
              <a:buNone/>
            </a:pPr>
            <a:r>
              <a:rPr lang="en-US" sz="2000" dirty="0"/>
              <a:t>Traditional data systems are not efficient for handling continuously generated real-time social media data. Processing and analyzing large volumes of streaming tweet data requires a scalable and reliable data pipeline. The main problem addressed in this project is how to efficiently stream, process, and visualize real-time Twitter (X) sentiment data using Apache Kafka and modern data engineering tools.</a:t>
            </a:r>
            <a:endParaRPr lang="en-US" sz="2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506730" y="514238"/>
            <a:ext cx="760476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506730" y="1060338"/>
            <a:ext cx="8166735" cy="361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spcBef>
                <a:spcPts val="160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US" sz="1800" dirty="0"/>
              <a:t>This project focuses on building a real-time Twitter (X) data engineering pipeline using Apache Kafka, Python, and Power BI. The system streams tweet data in real time through a Kafka Producer-Consumer architecture and processes the data for analytics and visualization. The project demonstrates important data engineering concepts such as real-time streaming, distributed messaging, data ingestion, and dashboard-based analytics.</a:t>
            </a:r>
            <a:endParaRPr sz="1800" dirty="0">
              <a:solidFill>
                <a:srgbClr val="000000"/>
              </a:solidFill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583623" y="489400"/>
            <a:ext cx="75057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dirty="0"/>
              <a:t>Aim &amp; Objectives:</a:t>
            </a:r>
            <a:br>
              <a:rPr lang="en-GB" dirty="0"/>
            </a:br>
            <a:endParaRPr dirty="0"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489284" y="1147010"/>
            <a:ext cx="7600039" cy="284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n-US" sz="1800" b="1" dirty="0"/>
              <a:t>Aim</a:t>
            </a:r>
          </a:p>
          <a:p>
            <a:r>
              <a:rPr lang="en-US" sz="1800" dirty="0"/>
              <a:t>To develop a real-time Twitter (X) data streaming pipeline using Apache Kafka, Python, and Power BI for processing and visualizing tweet sentiment data.</a:t>
            </a:r>
          </a:p>
          <a:p>
            <a:endParaRPr lang="en-US" sz="1800" b="1" dirty="0"/>
          </a:p>
          <a:p>
            <a:pPr marL="146050" indent="0">
              <a:buNone/>
            </a:pPr>
            <a:r>
              <a:rPr lang="en-US" sz="1800" b="1" dirty="0"/>
              <a:t>Objectives</a:t>
            </a:r>
          </a:p>
          <a:p>
            <a:r>
              <a:rPr lang="en-US" sz="1800" dirty="0"/>
              <a:t>To implement real-time data streaming using Apache Kafka. </a:t>
            </a:r>
          </a:p>
          <a:p>
            <a:r>
              <a:rPr lang="en-US" sz="1800" dirty="0"/>
              <a:t>To develop Producer and Consumer applications using Python. </a:t>
            </a:r>
          </a:p>
          <a:p>
            <a:r>
              <a:rPr lang="en-US" sz="1800" dirty="0"/>
              <a:t>To process tweet data using Kafka topics. </a:t>
            </a:r>
          </a:p>
          <a:p>
            <a:r>
              <a:rPr lang="en-US" sz="1800" dirty="0"/>
              <a:t>To visualize streaming analytics using Power BI.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0284" y="301532"/>
            <a:ext cx="7505700" cy="629632"/>
          </a:xfrm>
        </p:spPr>
        <p:txBody>
          <a:bodyPr/>
          <a:lstStyle/>
          <a:p>
            <a:pPr algn="ctr"/>
            <a:r>
              <a:rPr lang="en-US" dirty="0"/>
              <a:t>Methodology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C5208-C8A5-939F-BEF7-52012A1F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757" y="862986"/>
            <a:ext cx="6019299" cy="40128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528608"/>
            <a:ext cx="7505700" cy="605248"/>
          </a:xfrm>
        </p:spPr>
        <p:txBody>
          <a:bodyPr/>
          <a:lstStyle/>
          <a:p>
            <a:r>
              <a:rPr lang="en-US" dirty="0"/>
              <a:t>Technology 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969" y="1655225"/>
            <a:ext cx="7442534" cy="2435512"/>
          </a:xfrm>
        </p:spPr>
        <p:txBody>
          <a:bodyPr/>
          <a:lstStyle/>
          <a:p>
            <a:r>
              <a:rPr lang="en-IN" sz="1800" b="1" dirty="0"/>
              <a:t>Python</a:t>
            </a:r>
            <a:r>
              <a:rPr lang="en-IN" sz="1800" dirty="0"/>
              <a:t> – Used for Kafka Producer and Consumer development</a:t>
            </a:r>
          </a:p>
          <a:p>
            <a:r>
              <a:rPr lang="en-IN" sz="1800" b="1" dirty="0"/>
              <a:t>Apache Kafka</a:t>
            </a:r>
            <a:r>
              <a:rPr lang="en-IN" sz="1800" dirty="0"/>
              <a:t> – Used for real-time data streaming</a:t>
            </a:r>
          </a:p>
          <a:p>
            <a:r>
              <a:rPr lang="en-IN" sz="1800" b="1" dirty="0"/>
              <a:t>Zookeeper</a:t>
            </a:r>
            <a:r>
              <a:rPr lang="en-IN" sz="1800" dirty="0"/>
              <a:t> – Used for Kafka coordination and management </a:t>
            </a:r>
          </a:p>
          <a:p>
            <a:r>
              <a:rPr lang="en-IN" sz="1800" b="1" dirty="0"/>
              <a:t>Java 17</a:t>
            </a:r>
            <a:r>
              <a:rPr lang="en-IN" sz="1800" dirty="0"/>
              <a:t> – Runtime environment required for Kafka services </a:t>
            </a:r>
          </a:p>
          <a:p>
            <a:r>
              <a:rPr lang="en-IN" sz="1800" b="1" dirty="0"/>
              <a:t>JSON</a:t>
            </a:r>
            <a:r>
              <a:rPr lang="en-IN" sz="1800" dirty="0"/>
              <a:t> – Used as the streaming data format</a:t>
            </a:r>
          </a:p>
          <a:p>
            <a:r>
              <a:rPr lang="en-IN" sz="1800" b="1" dirty="0"/>
              <a:t>Power BI</a:t>
            </a:r>
            <a:r>
              <a:rPr lang="en-IN" sz="1800" dirty="0"/>
              <a:t> – Used for analytics and dashboard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D255-DE53-1E88-E64A-D2AC4539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484653"/>
            <a:ext cx="7505700" cy="699315"/>
          </a:xfrm>
        </p:spPr>
        <p:txBody>
          <a:bodyPr/>
          <a:lstStyle/>
          <a:p>
            <a:r>
              <a:rPr lang="en-US" dirty="0"/>
              <a:t>Data: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CDD73-9B52-9DCA-AE71-940D86387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711" y="1151883"/>
            <a:ext cx="7505700" cy="2448000"/>
          </a:xfrm>
        </p:spPr>
        <p:txBody>
          <a:bodyPr/>
          <a:lstStyle/>
          <a:p>
            <a:r>
              <a:rPr lang="en-IN" b="1" dirty="0"/>
              <a:t>Dataset Information</a:t>
            </a:r>
          </a:p>
          <a:p>
            <a:r>
              <a:rPr lang="en-IN" dirty="0"/>
              <a:t>Twitter (X) sentiment dataset used for real-time streaming simulation </a:t>
            </a:r>
          </a:p>
          <a:p>
            <a:r>
              <a:rPr lang="en-IN" dirty="0"/>
              <a:t>Original dataset collected in CSV format </a:t>
            </a:r>
          </a:p>
          <a:p>
            <a:r>
              <a:rPr lang="en-IN" dirty="0"/>
              <a:t>Dataset converted into JSON format for Kafka streaming </a:t>
            </a:r>
          </a:p>
          <a:p>
            <a:r>
              <a:rPr lang="en-IN" dirty="0"/>
              <a:t>Dataset contains: </a:t>
            </a:r>
          </a:p>
          <a:p>
            <a:pPr lvl="1"/>
            <a:r>
              <a:rPr lang="en-IN" dirty="0" err="1"/>
              <a:t>Tweet_id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entity </a:t>
            </a:r>
          </a:p>
          <a:p>
            <a:pPr lvl="1"/>
            <a:r>
              <a:rPr lang="en-IN" dirty="0"/>
              <a:t>sentiment </a:t>
            </a:r>
          </a:p>
          <a:p>
            <a:pPr lvl="1"/>
            <a:r>
              <a:rPr lang="en-IN" dirty="0"/>
              <a:t>tweet text </a:t>
            </a:r>
          </a:p>
          <a:p>
            <a:r>
              <a:rPr lang="en-IN" dirty="0"/>
              <a:t>Used for real-time analytics and sentiment visualization in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97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BEB8-355E-2315-DBE0-3DD6DA71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41" y="810964"/>
            <a:ext cx="7505700" cy="954600"/>
          </a:xfrm>
        </p:spPr>
        <p:txBody>
          <a:bodyPr/>
          <a:lstStyle/>
          <a:p>
            <a:r>
              <a:rPr lang="en-US" dirty="0"/>
              <a:t>Preprocessing of Data: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ED444-308B-E2F7-EEEA-62538CEA1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641" y="1678998"/>
            <a:ext cx="7505700" cy="2448000"/>
          </a:xfrm>
        </p:spPr>
        <p:txBody>
          <a:bodyPr/>
          <a:lstStyle/>
          <a:p>
            <a:r>
              <a:rPr lang="en-US" sz="1400" dirty="0"/>
              <a:t>Removing Null Values</a:t>
            </a:r>
          </a:p>
          <a:p>
            <a:r>
              <a:rPr lang="en-US" sz="1400" dirty="0"/>
              <a:t>Converting Data Types</a:t>
            </a:r>
          </a:p>
          <a:p>
            <a:r>
              <a:rPr lang="en-US" sz="1400" dirty="0"/>
              <a:t>Normalizing Data</a:t>
            </a:r>
          </a:p>
          <a:p>
            <a:r>
              <a:rPr lang="en-US" sz="1400" dirty="0"/>
              <a:t>Feature selection</a:t>
            </a:r>
          </a:p>
          <a:p>
            <a:r>
              <a:rPr lang="en-US" sz="1400" dirty="0"/>
              <a:t>Removing Outliers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89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37D20D-C74B-411F-BD20-F5ACEC511D30}"/>
              </a:ext>
            </a:extLst>
          </p:cNvPr>
          <p:cNvSpPr txBox="1"/>
          <p:nvPr/>
        </p:nvSpPr>
        <p:spPr>
          <a:xfrm>
            <a:off x="608883" y="531263"/>
            <a:ext cx="2878269" cy="52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</a:pPr>
            <a:r>
              <a:rPr lang="en-US" sz="2800" dirty="0"/>
              <a:t>PROGRESS</a:t>
            </a: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B8318-017E-01C6-8FE3-FD13E8EC5D99}"/>
              </a:ext>
            </a:extLst>
          </p:cNvPr>
          <p:cNvSpPr txBox="1"/>
          <p:nvPr/>
        </p:nvSpPr>
        <p:spPr>
          <a:xfrm>
            <a:off x="308810" y="1143000"/>
            <a:ext cx="789271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Installed and configured Apache Kafka and Zookeeper.</a:t>
            </a:r>
          </a:p>
          <a:p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Configured Java 17 environment for Kafka services. 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Converted CSV dataset into JSON format for streaming. 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Developed Kafka Producer and Consumer using Python.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Successfully implemented and verified real-time tweet streaming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68C39-E9B0-610B-86F5-50450867E22F}"/>
              </a:ext>
            </a:extLst>
          </p:cNvPr>
          <p:cNvSpPr txBox="1"/>
          <p:nvPr/>
        </p:nvSpPr>
        <p:spPr>
          <a:xfrm>
            <a:off x="308810" y="3766557"/>
            <a:ext cx="6356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Current project completion status is approximately 70%.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4543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4867" y="987819"/>
            <a:ext cx="66077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452</Words>
  <Application>Microsoft Office PowerPoint</Application>
  <PresentationFormat>On-screen Show (16:9)</PresentationFormat>
  <Paragraphs>73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</vt:lpstr>
      <vt:lpstr>Shift</vt:lpstr>
      <vt:lpstr>    university of Europe for applied sciences Department of Data Science  Presentation On: progress report   Twitter (X) Real-Time Data Engineering Pipeline</vt:lpstr>
      <vt:lpstr>PowerPoint Presentation</vt:lpstr>
      <vt:lpstr>Problem Definition</vt:lpstr>
      <vt:lpstr>Introduction</vt:lpstr>
      <vt:lpstr>Aim &amp; Objectives: </vt:lpstr>
      <vt:lpstr>Methodology</vt:lpstr>
      <vt:lpstr>Technology :</vt:lpstr>
      <vt:lpstr>Data:</vt:lpstr>
      <vt:lpstr>Preprocessing of Data: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YESHWANTRAO CHAVAN COLLEGE OF    ENGINEERING COMPUTER TECHNOLOGY DEPARTMENT Title Selection Seminar  ON:   DERIVATIONAL MORPHOLOGICAL ANALYZER</dc:title>
  <dc:creator>Anup</dc:creator>
  <cp:lastModifiedBy>anish khobragade</cp:lastModifiedBy>
  <cp:revision>80</cp:revision>
  <dcterms:created xsi:type="dcterms:W3CDTF">2021-08-21T05:11:00Z</dcterms:created>
  <dcterms:modified xsi:type="dcterms:W3CDTF">2026-05-26T06:48:48Z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B26C36844B804404955E2FA1AD81A8A7</vt:lpwstr>
  </property>
  <property fmtid="{D5CDD505-2E9C-101B-9397-08002B2CF9AE}" pid="3" name="KSOProductBuildVer">
    <vt:lpwstr>1033-11.2.0.11074</vt:lpwstr>
  </property>
</Properties>
</file>